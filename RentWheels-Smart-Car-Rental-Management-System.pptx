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2192000" cy="6858000"/>
  <p:notesSz cx="6858000" cy="12192000"/>
  <p:embeddedFontLst>
    <p:embeddedFont>
      <p:font typeface="Consolas" panose="020B0609020204030204" pitchFamily="49" charset="0"/>
      <p:regular r:id="rId11"/>
      <p:bold r:id="rId12"/>
      <p:italic r:id="rId13"/>
      <p:boldItalic r:id="rId14"/>
    </p:embeddedFont>
    <p:embeddedFont>
      <p:font typeface="Public Sans" panose="020B0604020202020204" charset="0"/>
      <p:regular r:id="rId15"/>
    </p:embeddedFont>
    <p:embeddedFont>
      <p:font typeface="Public Sans Bold" panose="020B0604020202020204" charset="0"/>
      <p:regular r:id="rId16"/>
    </p:embeddedFont>
    <p:embeddedFont>
      <p:font typeface="Public Sans SemiBold" panose="020B0604020202020204" charset="0"/>
      <p:regular r:id="rId17"/>
    </p:embeddedFont>
    <p:embeddedFont>
      <p:font typeface="Schibsted Grotesk 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8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100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RentWheels, an automated management system addressing counter race conditions and audit loss. State student credentials and acknowledge project supervisor Shaik Sana Begum Ma'am.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failure modes observed in legacy rental counters: race-condition double bookings, counter delays, and mutable rate corruption.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three tiers: the HTML5/CSS/JavaScript frontend manages cars, customers, and rentals; the Flask Backend API handles business logic, validation, booking, returns, and billing; MongoDB Atlas Cloud Replica Set stores vehicles, customers, rentals, and transactions. Requests move forward and responses return between tiers.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core schema decision: embedding car and customer snapshots directly inside the rental document ensures immutable historical accuracy without multi-collection joins.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update_one with a status precondition acts as an atomic mutex in MongoDB, preventing race conditions. Walk through the four clear workflow phases.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database indexing strategy and aggregation pipelines for manager reporting. Note the explicit benchmark and screenshot placeholders for evaluator transparency.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9E8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46100"/>
            <a:ext cx="4368691" cy="787400"/>
          </a:xfrm>
          <a:prstGeom prst="rect">
            <a:avLst/>
          </a:prstGeom>
          <a:noFill/>
          <a:ln/>
        </p:spPr>
        <p:txBody>
          <a:bodyPr wrap="none" lIns="0" tIns="126997" rIns="0" bIns="88898" rtlCol="0" anchor="t"/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5000" b="1" kern="100" spc="-175" dirty="0">
                <a:solidFill>
                  <a:srgbClr val="1B244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0"/>
              </a:rPr>
              <a:t>RENTWHEELS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457189" y="1428877"/>
            <a:ext cx="4825879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B244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Smart Car Rental Management System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189" y="1884339"/>
            <a:ext cx="4368691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44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 modern full-stack platform eliminating double-booking through atomic operations and immutable rental records.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189" y="4230588"/>
            <a:ext cx="436869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72" dirty="0">
                <a:solidFill>
                  <a:srgbClr val="1B244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PRESENTED BY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189" y="4523557"/>
            <a:ext cx="436869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44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Yogesh · Reg. No. 12320524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189" y="4992092"/>
            <a:ext cx="436869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72" dirty="0">
                <a:solidFill>
                  <a:srgbClr val="1B244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ACADEMIC COHORT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189" y="5285061"/>
            <a:ext cx="436869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44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B.Tech CSE, Section K23DF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189" y="5753596"/>
            <a:ext cx="436869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72" dirty="0">
                <a:solidFill>
                  <a:srgbClr val="1B244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FACULTY GUIDANCE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189" y="6046565"/>
            <a:ext cx="436869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44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Shaik Sana Begum Ma'am</a:t>
            </a:r>
            <a:endParaRPr lang="en-US" sz="1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068" y="0"/>
            <a:ext cx="6908627" cy="68580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57189" y="4871442"/>
            <a:ext cx="4368691" cy="12700"/>
          </a:xfrm>
          <a:prstGeom prst="rect">
            <a:avLst/>
          </a:prstGeom>
          <a:solidFill>
            <a:srgbClr val="1B2440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189" y="5632946"/>
            <a:ext cx="4368691" cy="12700"/>
          </a:xfrm>
          <a:prstGeom prst="rect">
            <a:avLst/>
          </a:prstGeom>
          <a:solidFill>
            <a:srgbClr val="1B2440"/>
          </a:solidFill>
          <a:ln/>
        </p:spPr>
      </p:sp>
      <p:sp>
        <p:nvSpPr>
          <p:cNvPr id="14" name="Shape 11"/>
          <p:cNvSpPr/>
          <p:nvPr/>
        </p:nvSpPr>
        <p:spPr>
          <a:xfrm>
            <a:off x="5276718" y="0"/>
            <a:ext cx="12700" cy="6858000"/>
          </a:xfrm>
          <a:prstGeom prst="rect">
            <a:avLst/>
          </a:prstGeom>
          <a:solidFill>
            <a:srgbClr val="1B244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28701"/>
            <a:ext cx="11277318" cy="1230709"/>
          </a:xfrm>
          <a:prstGeom prst="rect">
            <a:avLst/>
          </a:prstGeom>
          <a:noFill/>
          <a:ln/>
        </p:spPr>
        <p:txBody>
          <a:bodyPr wrap="square" lIns="0" tIns="111757" rIns="0" bIns="78230" rtlCol="0" anchor="t">
            <a:normAutofit lnSpcReduction="10000"/>
          </a:bodyPr>
          <a:lstStyle/>
          <a:p>
            <a:pPr marL="0" indent="0" algn="l">
              <a:lnSpc>
                <a:spcPct val="77000"/>
              </a:lnSpc>
              <a:buNone/>
            </a:pPr>
            <a:r>
              <a:rPr lang="en-US" sz="4400" b="1" kern="100" spc="-132" dirty="0">
                <a:solidFill>
                  <a:srgbClr val="1B244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0"/>
              </a:rPr>
              <a:t>PAPER REGISTERS AND LEGACY SYSTEMS BREAK DOWN AT THE COUNTER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2185345" y="2187575"/>
            <a:ext cx="6350" cy="4670425"/>
          </a:xfrm>
          <a:prstGeom prst="rect">
            <a:avLst/>
          </a:prstGeom>
          <a:solidFill>
            <a:srgbClr val="1B244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187575"/>
            <a:ext cx="6350" cy="4670425"/>
          </a:xfrm>
          <a:prstGeom prst="rect">
            <a:avLst/>
          </a:prstGeom>
          <a:solidFill>
            <a:srgbClr val="1B2440"/>
          </a:solidFill>
          <a:ln/>
        </p:spPr>
      </p:sp>
      <p:sp>
        <p:nvSpPr>
          <p:cNvPr id="5" name="Text 3"/>
          <p:cNvSpPr/>
          <p:nvPr/>
        </p:nvSpPr>
        <p:spPr>
          <a:xfrm>
            <a:off x="666733" y="2644775"/>
            <a:ext cx="660631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72" dirty="0">
                <a:solidFill>
                  <a:srgbClr val="1B244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THE COUNTER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6733" y="2919030"/>
            <a:ext cx="6149127" cy="226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700" b="1" kern="100" spc="85" dirty="0">
                <a:solidFill>
                  <a:srgbClr val="1B244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0"/>
              </a:rPr>
              <a:t>CONCURRENT DOUBLE-BOOKING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66733" y="3259610"/>
            <a:ext cx="6149127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44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Multiple counter clerks assign the same vehicle simultaneously without synchronized lock state.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6733" y="4064808"/>
            <a:ext cx="6149127" cy="226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700" b="1" kern="100" spc="85" dirty="0">
                <a:solidFill>
                  <a:srgbClr val="1B244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0"/>
              </a:rPr>
              <a:t>SLOW COUNTER THROUGHPUT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6733" y="4405388"/>
            <a:ext cx="6149127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44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Manual paperwork and fragmented checks extend customer turnaround times to over 15 minutes.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6733" y="5210586"/>
            <a:ext cx="6149127" cy="226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700" b="1" kern="100" spc="85" dirty="0">
                <a:solidFill>
                  <a:srgbClr val="1B244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0"/>
              </a:rPr>
              <a:t>CORRUPTED AUDIT TRAILS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6733" y="5551166"/>
            <a:ext cx="6149127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44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Direct rate overwrites in relational tables retroactively distort completed contract calculations.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6733" y="6196072"/>
            <a:ext cx="660631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5B60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Objective: Deliver an ACID-reliable, centralized platform for real-time fleet operations.</a:t>
            </a:r>
            <a:endParaRPr lang="en-US" sz="12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3049" y="2187575"/>
            <a:ext cx="4709102" cy="467042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F674199-F3FC-E1E2-2028-786FC447672D}"/>
              </a:ext>
            </a:extLst>
          </p:cNvPr>
          <p:cNvSpPr/>
          <p:nvPr/>
        </p:nvSpPr>
        <p:spPr>
          <a:xfrm>
            <a:off x="11982151" y="6283354"/>
            <a:ext cx="209849" cy="574646"/>
          </a:xfrm>
          <a:prstGeom prst="rect">
            <a:avLst/>
          </a:prstGeom>
          <a:solidFill>
            <a:srgbClr val="E9E8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28701"/>
            <a:ext cx="11277318" cy="1142405"/>
          </a:xfrm>
          <a:prstGeom prst="rect">
            <a:avLst/>
          </a:prstGeom>
          <a:noFill/>
          <a:ln/>
        </p:spPr>
        <p:txBody>
          <a:bodyPr wrap="square" lIns="0" tIns="50799" rIns="0" bIns="50799" rtlCol="0" anchor="t">
            <a:normAutofit lnSpcReduction="10000"/>
          </a:bodyPr>
          <a:lstStyle/>
          <a:p>
            <a:pPr marL="0" indent="0" algn="l">
              <a:lnSpc>
                <a:spcPct val="77000"/>
              </a:lnSpc>
              <a:buNone/>
            </a:pPr>
            <a:r>
              <a:rPr lang="en-US" sz="4400" b="1" kern="100" spc="-132" dirty="0">
                <a:solidFill>
                  <a:srgbClr val="1B244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0"/>
              </a:rPr>
              <a:t>A THREE-TIER ARCHITECTURE KEEPS LOGIC IN ONE PLACE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189" y="3122910"/>
            <a:ext cx="3022524" cy="1754584"/>
          </a:xfrm>
          <a:prstGeom prst="rect">
            <a:avLst/>
          </a:prstGeom>
          <a:solidFill>
            <a:srgbClr val="DFDED7"/>
          </a:solidFill>
          <a:ln/>
        </p:spPr>
      </p:sp>
      <p:sp>
        <p:nvSpPr>
          <p:cNvPr id="4" name="Text 2"/>
          <p:cNvSpPr/>
          <p:nvPr/>
        </p:nvSpPr>
        <p:spPr>
          <a:xfrm>
            <a:off x="685783" y="3369880"/>
            <a:ext cx="2565336" cy="679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700" b="1" kern="100" spc="85" dirty="0">
                <a:solidFill>
                  <a:srgbClr val="1B244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0"/>
              </a:rPr>
              <a:t>HTML5 / CSS / JAVASCRIPT FRONTEND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783" y="4163691"/>
            <a:ext cx="2565336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44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Manage cars, customers, and rentals.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32109" y="3742134"/>
            <a:ext cx="888978" cy="516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5B60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Request →</a:t>
            </a:r>
            <a:endParaRPr lang="en-US" sz="12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5B60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← Response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73384" y="3122910"/>
            <a:ext cx="2844828" cy="1754584"/>
          </a:xfrm>
          <a:prstGeom prst="rect">
            <a:avLst/>
          </a:prstGeom>
          <a:solidFill>
            <a:srgbClr val="DFDED7"/>
          </a:solidFill>
          <a:ln/>
        </p:spPr>
      </p:sp>
      <p:sp>
        <p:nvSpPr>
          <p:cNvPr id="8" name="Text 6"/>
          <p:cNvSpPr/>
          <p:nvPr/>
        </p:nvSpPr>
        <p:spPr>
          <a:xfrm>
            <a:off x="4901978" y="3483188"/>
            <a:ext cx="2387639" cy="453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700" b="1" kern="100" spc="85" dirty="0">
                <a:solidFill>
                  <a:srgbClr val="1B244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0"/>
              </a:rPr>
              <a:t>FLASK BACKEND API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901978" y="4050383"/>
            <a:ext cx="2387639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44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Business logic, validation, booking, returns, billing.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70509" y="3742134"/>
            <a:ext cx="888978" cy="516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5B60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Request →</a:t>
            </a:r>
            <a:endParaRPr lang="en-US" sz="12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5B60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← Response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711883" y="3122910"/>
            <a:ext cx="3022624" cy="1754584"/>
          </a:xfrm>
          <a:prstGeom prst="rect">
            <a:avLst/>
          </a:prstGeom>
          <a:solidFill>
            <a:srgbClr val="DFDED7"/>
          </a:solidFill>
          <a:ln/>
        </p:spPr>
      </p:sp>
      <p:sp>
        <p:nvSpPr>
          <p:cNvPr id="12" name="Text 10"/>
          <p:cNvSpPr/>
          <p:nvPr/>
        </p:nvSpPr>
        <p:spPr>
          <a:xfrm>
            <a:off x="8940477" y="3483188"/>
            <a:ext cx="2565435" cy="453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700" b="1" kern="100" spc="85" dirty="0">
                <a:solidFill>
                  <a:srgbClr val="1B244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0"/>
              </a:rPr>
              <a:t>MONGODB ATLAS CLOUD REPLICA SET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940477" y="4050383"/>
            <a:ext cx="2565435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44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Vehicles, customers, rentals, transactions.</a:t>
            </a:r>
            <a:endParaRPr lang="en-US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2D9AB1-2C5A-C92B-2E4E-C14511BA5FEF}"/>
              </a:ext>
            </a:extLst>
          </p:cNvPr>
          <p:cNvSpPr/>
          <p:nvPr/>
        </p:nvSpPr>
        <p:spPr>
          <a:xfrm>
            <a:off x="11014745" y="6467912"/>
            <a:ext cx="1177255" cy="390088"/>
          </a:xfrm>
          <a:prstGeom prst="rect">
            <a:avLst/>
          </a:prstGeom>
          <a:solidFill>
            <a:srgbClr val="E9E8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28701"/>
            <a:ext cx="11277318" cy="1230709"/>
          </a:xfrm>
          <a:prstGeom prst="rect">
            <a:avLst/>
          </a:prstGeom>
          <a:noFill/>
          <a:ln/>
        </p:spPr>
        <p:txBody>
          <a:bodyPr wrap="square" lIns="0" tIns="111757" rIns="0" bIns="78230" rtlCol="0" anchor="t">
            <a:normAutofit lnSpcReduction="10000"/>
          </a:bodyPr>
          <a:lstStyle/>
          <a:p>
            <a:pPr marL="0" indent="0" algn="l">
              <a:lnSpc>
                <a:spcPct val="77000"/>
              </a:lnSpc>
              <a:buNone/>
            </a:pPr>
            <a:r>
              <a:rPr lang="en-US" sz="4400" b="1" kern="100" spc="-132" dirty="0">
                <a:solidFill>
                  <a:srgbClr val="1B244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0"/>
              </a:rPr>
              <a:t>IMMUTABLE SNAPSHOTS KEEP EVERY RENTAL RECORD TRUE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1728157" y="1865709"/>
            <a:ext cx="6350" cy="4128691"/>
          </a:xfrm>
          <a:prstGeom prst="rect">
            <a:avLst/>
          </a:prstGeom>
          <a:solidFill>
            <a:srgbClr val="1B2440"/>
          </a:solidFill>
          <a:ln/>
        </p:spPr>
      </p:sp>
      <p:sp>
        <p:nvSpPr>
          <p:cNvPr id="4" name="Shape 2"/>
          <p:cNvSpPr/>
          <p:nvPr/>
        </p:nvSpPr>
        <p:spPr>
          <a:xfrm>
            <a:off x="457189" y="1865709"/>
            <a:ext cx="6350" cy="4128691"/>
          </a:xfrm>
          <a:prstGeom prst="rect">
            <a:avLst/>
          </a:prstGeom>
          <a:solidFill>
            <a:srgbClr val="1B2440"/>
          </a:solidFill>
          <a:ln/>
        </p:spPr>
      </p:sp>
      <p:sp>
        <p:nvSpPr>
          <p:cNvPr id="5" name="Text 3"/>
          <p:cNvSpPr/>
          <p:nvPr/>
        </p:nvSpPr>
        <p:spPr>
          <a:xfrm>
            <a:off x="666733" y="2435523"/>
            <a:ext cx="452426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72" dirty="0">
                <a:solidFill>
                  <a:srgbClr val="1B244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DESIGN PRINCIPLE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6733" y="2709778"/>
            <a:ext cx="4244869" cy="679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700" b="1" kern="100" spc="85" dirty="0">
                <a:solidFill>
                  <a:srgbClr val="1B244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0"/>
              </a:rPr>
              <a:t>EMBED BOOKING-TIME CONTEXT; KEEP SOURCE COLLECTIONS SEPARATE.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66733" y="3498255"/>
            <a:ext cx="4244869" cy="1926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B244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Car, customer, and rental data live in separate collections. At booking, car and customer details are embedded in the rental record.</a:t>
            </a:r>
            <a:endParaRPr lang="en-US" sz="1400" dirty="0"/>
          </a:p>
          <a:p>
            <a:pPr marL="0" indent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B244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No SQL-style joins to read history. Later price or customer changes never alter past rentals.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244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Benefits</a:t>
            </a:r>
            <a:r>
              <a:rPr lang="en-US" sz="1400" dirty="0">
                <a:solidFill>
                  <a:srgbClr val="1B244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· Historical accuracy · Auditability · Simpler retrieval · Reliable billing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70388" y="1865709"/>
            <a:ext cx="605447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72" dirty="0">
                <a:solidFill>
                  <a:srgbClr val="1B244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MONGODB DOCUMENT: RENTALS COLLECTION · ILLUSTRATIVE VALUES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70388" y="2153345"/>
          <a:ext cx="6054474" cy="3641972"/>
        </p:xfrm>
        <a:graphic>
          <a:graphicData uri="http://schemas.openxmlformats.org/drawingml/2006/table">
            <a:tbl>
              <a:tblPr/>
              <a:tblGrid>
                <a:gridCol w="3698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6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842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44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_id: ObjectId("665a1f2b9c3e4d001a8b4567")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44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rental_id: RNT-2026-8841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9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44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status: Active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44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start_time: 2026-10-26T08:30:00Z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9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9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44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duration: Not specified in source sample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44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vehicle_id: CAR-104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9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44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make: Hyundai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44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model: Ioniq 5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9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42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44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plate: DL-01-AB-1234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44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agreed_hourly_rate: 350.00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9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44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customer_id: CUST-5012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44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full_name: Aarav Sharma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9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31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44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license_no: DL-0420190012948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44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phone: +91 98110 23456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9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44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rate_basis: hourly_ceiling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44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advance_deposit: 1000.00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9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70388" y="5789672"/>
            <a:ext cx="6054474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5B60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Car and customer collections remain normalized for active fleet operations.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184645" y="1865709"/>
            <a:ext cx="12700" cy="4128691"/>
          </a:xfrm>
          <a:prstGeom prst="rect">
            <a:avLst/>
          </a:prstGeom>
          <a:solidFill>
            <a:srgbClr val="1B2440"/>
          </a:solidFill>
          <a:ln/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27142F-7BA4-7ADC-2011-60A1D4BA0AD3}"/>
              </a:ext>
            </a:extLst>
          </p:cNvPr>
          <p:cNvSpPr/>
          <p:nvPr/>
        </p:nvSpPr>
        <p:spPr>
          <a:xfrm>
            <a:off x="11014745" y="6467912"/>
            <a:ext cx="1177255" cy="390088"/>
          </a:xfrm>
          <a:prstGeom prst="rect">
            <a:avLst/>
          </a:prstGeom>
          <a:solidFill>
            <a:srgbClr val="E9E8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EB9D45-3CAE-4A37-EC98-641104A34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50" y="473708"/>
            <a:ext cx="4341727" cy="251277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5EF2555-AC89-6D0F-7E6E-11AAA1E03E2E}"/>
              </a:ext>
            </a:extLst>
          </p:cNvPr>
          <p:cNvSpPr/>
          <p:nvPr/>
        </p:nvSpPr>
        <p:spPr>
          <a:xfrm>
            <a:off x="11014745" y="6467912"/>
            <a:ext cx="1177255" cy="390088"/>
          </a:xfrm>
          <a:prstGeom prst="rect">
            <a:avLst/>
          </a:prstGeom>
          <a:solidFill>
            <a:srgbClr val="E9E8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6A8534-64C4-B4B0-D973-E15AD0C23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550" y="3368206"/>
            <a:ext cx="4341727" cy="34897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1C7D28-54F5-FEB8-A51A-60CAC2066B98}"/>
              </a:ext>
            </a:extLst>
          </p:cNvPr>
          <p:cNvSpPr txBox="1"/>
          <p:nvPr/>
        </p:nvSpPr>
        <p:spPr>
          <a:xfrm>
            <a:off x="714949" y="2986482"/>
            <a:ext cx="3254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Connecting flask to MongoDB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1CF89B-AEE7-3EC4-EB15-BA5B0B24F13E}"/>
              </a:ext>
            </a:extLst>
          </p:cNvPr>
          <p:cNvSpPr txBox="1"/>
          <p:nvPr/>
        </p:nvSpPr>
        <p:spPr>
          <a:xfrm>
            <a:off x="903701" y="43474"/>
            <a:ext cx="2877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Database and its Collections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9E5A93-88C4-9897-C1B3-E72476E53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9780" y="520171"/>
            <a:ext cx="7280670" cy="6277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784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28701"/>
            <a:ext cx="11277318" cy="1230709"/>
          </a:xfrm>
          <a:prstGeom prst="rect">
            <a:avLst/>
          </a:prstGeom>
          <a:noFill/>
          <a:ln/>
        </p:spPr>
        <p:txBody>
          <a:bodyPr wrap="square" lIns="0" tIns="111757" rIns="0" bIns="78230" rtlCol="0" anchor="t">
            <a:normAutofit lnSpcReduction="10000"/>
          </a:bodyPr>
          <a:lstStyle/>
          <a:p>
            <a:pPr marL="0" indent="0" algn="l">
              <a:lnSpc>
                <a:spcPct val="77000"/>
              </a:lnSpc>
              <a:buNone/>
            </a:pPr>
            <a:r>
              <a:rPr lang="en-US" sz="4400" b="1" kern="100" spc="-132" dirty="0">
                <a:solidFill>
                  <a:srgbClr val="1B244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0"/>
              </a:rPr>
              <a:t>ONE ATOMIC UPDATE LETS ONLY ONE USER BOOK A CAR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1728157" y="1865709"/>
            <a:ext cx="6350" cy="4535091"/>
          </a:xfrm>
          <a:prstGeom prst="rect">
            <a:avLst/>
          </a:prstGeom>
          <a:solidFill>
            <a:srgbClr val="1B2440"/>
          </a:solidFill>
          <a:ln/>
        </p:spPr>
      </p:sp>
      <p:sp>
        <p:nvSpPr>
          <p:cNvPr id="4" name="Shape 2"/>
          <p:cNvSpPr/>
          <p:nvPr/>
        </p:nvSpPr>
        <p:spPr>
          <a:xfrm>
            <a:off x="457189" y="1865709"/>
            <a:ext cx="6350" cy="4535091"/>
          </a:xfrm>
          <a:prstGeom prst="rect">
            <a:avLst/>
          </a:prstGeom>
          <a:solidFill>
            <a:srgbClr val="1B2440"/>
          </a:solidFill>
          <a:ln/>
        </p:spPr>
      </p:sp>
      <p:sp>
        <p:nvSpPr>
          <p:cNvPr id="5" name="Text 3"/>
          <p:cNvSpPr/>
          <p:nvPr/>
        </p:nvSpPr>
        <p:spPr>
          <a:xfrm>
            <a:off x="666733" y="1865709"/>
            <a:ext cx="527671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72" dirty="0">
                <a:solidFill>
                  <a:srgbClr val="1B244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CONCURRENCY GUARD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6733" y="2139964"/>
            <a:ext cx="5276718" cy="226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700" b="1" kern="100" spc="85" dirty="0">
                <a:solidFill>
                  <a:srgbClr val="1B244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0"/>
              </a:rPr>
              <a:t>ATOMIC TEST-AND-SET QUERY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66733" y="2480544"/>
            <a:ext cx="5276718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44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Only one competing request can change the car from Available to Rented.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6733" y="3165773"/>
            <a:ext cx="5276718" cy="2062361"/>
          </a:xfrm>
          <a:prstGeom prst="roundRect">
            <a:avLst>
              <a:gd name="adj" fmla="val 1293"/>
            </a:avLst>
          </a:prstGeom>
          <a:solidFill>
            <a:srgbClr val="DFDED7"/>
          </a:solidFill>
          <a:ln/>
        </p:spPr>
      </p:sp>
      <p:sp>
        <p:nvSpPr>
          <p:cNvPr id="9" name="Text 7"/>
          <p:cNvSpPr/>
          <p:nvPr/>
        </p:nvSpPr>
        <p:spPr>
          <a:xfrm>
            <a:off x="880048" y="3343890"/>
            <a:ext cx="4850088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result = db.cars.update_one(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{"_id": car_id, "status": "Available"},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{"$set": {"status": "Rented"}}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)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if result.modified_count == 0: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return {"error": "Car is no longer available"}, 409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48244" y="1865709"/>
            <a:ext cx="527671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72" dirty="0">
                <a:solidFill>
                  <a:srgbClr val="1B244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END-TO-END OPERATIONAL LIFECYCLE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48244" y="2153345"/>
            <a:ext cx="5276718" cy="1359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5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44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Onboarding:</a:t>
            </a:r>
            <a:r>
              <a:rPr lang="en-US" sz="1400" dirty="0">
                <a:solidFill>
                  <a:srgbClr val="1B244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Register customers and vehicles.</a:t>
            </a:r>
            <a:endParaRPr lang="en-US" sz="1400" dirty="0"/>
          </a:p>
          <a:p>
            <a:pPr marL="284480" indent="-284480" algn="l">
              <a:lnSpc>
                <a:spcPct val="115000"/>
              </a:lnSpc>
              <a:buSzPct val="100000"/>
              <a:buFont typeface="+mj-lt"/>
              <a:buAutoNum type="arabicPeriod" startAt="2"/>
            </a:pPr>
            <a:r>
              <a:rPr lang="en-US" sz="1400" b="1" dirty="0">
                <a:solidFill>
                  <a:srgbClr val="1B244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Booking:</a:t>
            </a:r>
            <a:r>
              <a:rPr lang="en-US" sz="1400" dirty="0">
                <a:solidFill>
                  <a:srgbClr val="1B244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Ceiling-rounded hourly billing.</a:t>
            </a:r>
            <a:endParaRPr lang="en-US" sz="1400" dirty="0"/>
          </a:p>
          <a:p>
            <a:pPr marL="284480" indent="-284480" algn="l">
              <a:lnSpc>
                <a:spcPct val="115000"/>
              </a:lnSpc>
              <a:buSzPct val="100000"/>
              <a:buFont typeface="+mj-lt"/>
              <a:buAutoNum type="arabicPeriod" startAt="3"/>
            </a:pPr>
            <a:r>
              <a:rPr lang="en-US" sz="1400" b="1" dirty="0">
                <a:solidFill>
                  <a:srgbClr val="1B244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Return Inspection:</a:t>
            </a:r>
            <a:r>
              <a:rPr lang="en-US" sz="1400" dirty="0">
                <a:solidFill>
                  <a:srgbClr val="1B244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Good, Scratched, or Damaged.</a:t>
            </a:r>
            <a:endParaRPr lang="en-US" sz="1400" dirty="0"/>
          </a:p>
          <a:p>
            <a:pPr marL="284480" indent="-284480" algn="l">
              <a:lnSpc>
                <a:spcPct val="115000"/>
              </a:lnSpc>
              <a:buSzPct val="100000"/>
              <a:buFont typeface="+mj-lt"/>
              <a:buAutoNum type="arabicPeriod" startAt="4"/>
            </a:pPr>
            <a:r>
              <a:rPr lang="en-US" sz="1400" b="1" dirty="0">
                <a:solidFill>
                  <a:srgbClr val="1B244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Settlement:</a:t>
            </a:r>
            <a:r>
              <a:rPr lang="en-US" sz="1400" dirty="0">
                <a:solidFill>
                  <a:srgbClr val="1B244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Final charges; damaged vehicles routed to maintenance.</a:t>
            </a:r>
            <a:endParaRPr lang="en-US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DEBAA1-EFF2-1D48-BF89-2CDAE29214CE}"/>
              </a:ext>
            </a:extLst>
          </p:cNvPr>
          <p:cNvSpPr/>
          <p:nvPr/>
        </p:nvSpPr>
        <p:spPr>
          <a:xfrm>
            <a:off x="11014745" y="6467912"/>
            <a:ext cx="1177255" cy="390088"/>
          </a:xfrm>
          <a:prstGeom prst="rect">
            <a:avLst/>
          </a:prstGeom>
          <a:solidFill>
            <a:srgbClr val="E9E8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07683"/>
            <a:ext cx="11277318" cy="492621"/>
          </a:xfrm>
          <a:prstGeom prst="rect">
            <a:avLst/>
          </a:prstGeom>
          <a:noFill/>
          <a:ln/>
        </p:spPr>
        <p:txBody>
          <a:bodyPr wrap="none" lIns="0" tIns="76198" rIns="0" bIns="53339" rtlCol="0" anchor="t"/>
          <a:lstStyle/>
          <a:p>
            <a:pPr marL="0" indent="0" algn="l">
              <a:lnSpc>
                <a:spcPct val="77000"/>
              </a:lnSpc>
              <a:buNone/>
            </a:pPr>
            <a:r>
              <a:rPr lang="en-US" sz="3000" b="1" kern="100" spc="-90" dirty="0">
                <a:solidFill>
                  <a:srgbClr val="1B244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0"/>
              </a:rPr>
              <a:t>INDEXES AND AGGREGATIONS POWER FAST QUERIES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728157" y="1127621"/>
            <a:ext cx="6350" cy="5273179"/>
          </a:xfrm>
          <a:prstGeom prst="rect">
            <a:avLst/>
          </a:prstGeom>
          <a:solidFill>
            <a:srgbClr val="1B2440"/>
          </a:solidFill>
          <a:ln/>
        </p:spPr>
      </p:sp>
      <p:sp>
        <p:nvSpPr>
          <p:cNvPr id="4" name="Shape 2"/>
          <p:cNvSpPr/>
          <p:nvPr/>
        </p:nvSpPr>
        <p:spPr>
          <a:xfrm>
            <a:off x="457189" y="1127621"/>
            <a:ext cx="6350" cy="5273179"/>
          </a:xfrm>
          <a:prstGeom prst="rect">
            <a:avLst/>
          </a:prstGeom>
          <a:solidFill>
            <a:srgbClr val="1B2440"/>
          </a:solidFill>
          <a:ln/>
        </p:spPr>
      </p:sp>
      <p:sp>
        <p:nvSpPr>
          <p:cNvPr id="5" name="Text 3"/>
          <p:cNvSpPr/>
          <p:nvPr/>
        </p:nvSpPr>
        <p:spPr>
          <a:xfrm>
            <a:off x="666733" y="1356221"/>
            <a:ext cx="579105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72" dirty="0">
                <a:solidFill>
                  <a:srgbClr val="1B244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AGGREGATION PIPELINE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66733" y="1739106"/>
            <a:ext cx="5511662" cy="2915741"/>
          </a:xfrm>
          <a:prstGeom prst="roundRect">
            <a:avLst>
              <a:gd name="adj" fmla="val 915"/>
            </a:avLst>
          </a:prstGeom>
          <a:solidFill>
            <a:srgbClr val="DFDED7"/>
          </a:solidFill>
          <a:ln/>
        </p:spPr>
      </p:sp>
      <p:sp>
        <p:nvSpPr>
          <p:cNvPr id="7" name="Text 5"/>
          <p:cNvSpPr/>
          <p:nvPr/>
        </p:nvSpPr>
        <p:spPr>
          <a:xfrm>
            <a:off x="880048" y="1917224"/>
            <a:ext cx="5085032" cy="2560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db.rentals.aggregate([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{"$match": {"status": "Completed"}},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{"$group": {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    "_id": "$car_snapshot.vehicle_id",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    "total_revenue": {"$sum": "$final_charge"},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    "rentals_count": {"$sum": 1}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}},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{"$sort": {"total_revenue": -1}}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])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6733" y="4854873"/>
            <a:ext cx="5511662" cy="927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3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5B60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Indexes on frequently queried fields such as vehicle status and rental identifiers; example: </a:t>
            </a:r>
            <a:r>
              <a:rPr lang="en-US" sz="1200" dirty="0">
                <a:solidFill>
                  <a:srgbClr val="1B2440"/>
                </a:solidFill>
                <a:highlight>
                  <a:srgbClr val="DFDED7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cars.status</a:t>
            </a:r>
            <a:r>
              <a:rPr lang="en-US" sz="1200" dirty="0">
                <a:solidFill>
                  <a:srgbClr val="5B60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and compound index </a:t>
            </a:r>
            <a:r>
              <a:rPr lang="en-US" sz="1200" dirty="0">
                <a:solidFill>
                  <a:srgbClr val="1B2440"/>
                </a:solidFill>
                <a:highlight>
                  <a:srgbClr val="DFDED7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{status: 1, end_time: -1}</a:t>
            </a:r>
            <a:r>
              <a:rPr lang="en-US" sz="1200" dirty="0">
                <a:solidFill>
                  <a:srgbClr val="5B60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.</a:t>
            </a:r>
            <a:endParaRPr lang="en-US" sz="12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5B60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Average Query Time: </a:t>
            </a:r>
            <a:r>
              <a:rPr lang="en-US" sz="1200" b="1" dirty="0">
                <a:solidFill>
                  <a:srgbClr val="5B607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[ ___ ms ]</a:t>
            </a:r>
            <a:r>
              <a:rPr lang="en-US" sz="1200" dirty="0">
                <a:solidFill>
                  <a:srgbClr val="5B60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</a:t>
            </a:r>
            <a:r>
              <a:rPr lang="en-US" sz="1200" i="1" dirty="0">
                <a:solidFill>
                  <a:srgbClr val="5B60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(Placeholder: benchmark to be measured on target cluster)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57788" y="1127621"/>
            <a:ext cx="5067173" cy="5273179"/>
          </a:xfrm>
          <a:custGeom>
            <a:avLst/>
            <a:gdLst/>
            <a:ahLst/>
            <a:cxnLst/>
            <a:rect l="l" t="t" r="r" b="b"/>
            <a:pathLst>
              <a:path w="5067173" h="5273179">
                <a:moveTo>
                  <a:pt x="0" y="0"/>
                </a:moveTo>
                <a:lnTo>
                  <a:pt x="5044949" y="0"/>
                </a:lnTo>
                <a:arcTo wR="22224" hR="22225" stAng="16200000" swAng="5400000"/>
                <a:lnTo>
                  <a:pt x="5067173" y="5250954"/>
                </a:lnTo>
                <a:arcTo wR="22224" hR="22225" stAng="0" swAng="5400000"/>
                <a:lnTo>
                  <a:pt x="0" y="5273179"/>
                </a:lnTo>
                <a:lnTo>
                  <a:pt x="0" y="0"/>
                </a:lnTo>
                <a:close/>
              </a:path>
            </a:pathLst>
          </a:custGeom>
          <a:solidFill>
            <a:srgbClr val="DFDED7"/>
          </a:solidFill>
          <a:ln/>
        </p:spPr>
      </p:sp>
      <p:sp>
        <p:nvSpPr>
          <p:cNvPr id="10" name="Text 8"/>
          <p:cNvSpPr/>
          <p:nvPr/>
        </p:nvSpPr>
        <p:spPr>
          <a:xfrm>
            <a:off x="6686383" y="1356221"/>
            <a:ext cx="483857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72" dirty="0">
                <a:solidFill>
                  <a:srgbClr val="1B244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MANAGEMENT PORTAL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86383" y="1630476"/>
            <a:ext cx="4609985" cy="226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700" b="1" kern="100" spc="85" dirty="0">
                <a:solidFill>
                  <a:srgbClr val="1B244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0"/>
              </a:rPr>
              <a:t>OPERATIONS DASHBOARD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86383" y="1965722"/>
            <a:ext cx="483857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72" dirty="0">
                <a:solidFill>
                  <a:srgbClr val="1B244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SYSTEM INTERFACE PLACEHOLDER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86383" y="2258691"/>
            <a:ext cx="4838579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244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[ Live Dashboard Screenshot Placeholder ]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86383" y="2604353"/>
            <a:ext cx="4838579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B244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Add a dashboard screenshot showing: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86383" y="2913856"/>
            <a:ext cx="4609985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B244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Vehicle availability</a:t>
            </a:r>
            <a:endParaRPr lang="en-US" sz="1400" dirty="0"/>
          </a:p>
          <a:p>
            <a:pPr marL="284480" indent="-284480" algn="l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B244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Total rentals</a:t>
            </a:r>
            <a:endParaRPr lang="en-US" sz="1400" dirty="0"/>
          </a:p>
          <a:p>
            <a:pPr marL="284480" indent="-284480" algn="l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B244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Revenue</a:t>
            </a:r>
            <a:endParaRPr lang="en-US" sz="1400" dirty="0"/>
          </a:p>
          <a:p>
            <a:pPr marL="284480" indent="-284480" algn="l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B244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Vehicle condition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51439" y="1127621"/>
            <a:ext cx="12700" cy="5273179"/>
          </a:xfrm>
          <a:prstGeom prst="rect">
            <a:avLst/>
          </a:prstGeom>
          <a:solidFill>
            <a:srgbClr val="1B2440"/>
          </a:solidFill>
          <a:ln/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C58E1C-10DF-7970-99F0-892D80DFD491}"/>
              </a:ext>
            </a:extLst>
          </p:cNvPr>
          <p:cNvSpPr/>
          <p:nvPr/>
        </p:nvSpPr>
        <p:spPr>
          <a:xfrm>
            <a:off x="11014745" y="6467912"/>
            <a:ext cx="1177255" cy="390088"/>
          </a:xfrm>
          <a:prstGeom prst="rect">
            <a:avLst/>
          </a:prstGeom>
          <a:solidFill>
            <a:srgbClr val="E9E8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742940"/>
            <a:ext cx="11277318" cy="1230709"/>
          </a:xfrm>
          <a:prstGeom prst="rect">
            <a:avLst/>
          </a:prstGeom>
          <a:noFill/>
          <a:ln/>
        </p:spPr>
        <p:txBody>
          <a:bodyPr wrap="square" lIns="0" tIns="111757" rIns="0" bIns="78230" rtlCol="0" anchor="t">
            <a:normAutofit lnSpcReduction="10000"/>
          </a:bodyPr>
          <a:lstStyle/>
          <a:p>
            <a:pPr marL="0" indent="0" algn="l">
              <a:lnSpc>
                <a:spcPct val="77000"/>
              </a:lnSpc>
              <a:buNone/>
            </a:pPr>
            <a:r>
              <a:rPr lang="en-US" sz="4400" b="1" kern="100" spc="-132" dirty="0">
                <a:solidFill>
                  <a:srgbClr val="1B244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0"/>
              </a:rPr>
              <a:t>RESULTS: ONE RELIABLE SYSTEM FOR CARS, CUSTOMERS, AND RENTALS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1728157" y="3079948"/>
            <a:ext cx="6350" cy="2106613"/>
          </a:xfrm>
          <a:prstGeom prst="rect">
            <a:avLst/>
          </a:prstGeom>
          <a:solidFill>
            <a:srgbClr val="1B2440"/>
          </a:solidFill>
          <a:ln/>
        </p:spPr>
      </p:sp>
      <p:sp>
        <p:nvSpPr>
          <p:cNvPr id="4" name="Shape 2"/>
          <p:cNvSpPr/>
          <p:nvPr/>
        </p:nvSpPr>
        <p:spPr>
          <a:xfrm>
            <a:off x="457189" y="3079948"/>
            <a:ext cx="6350" cy="2106613"/>
          </a:xfrm>
          <a:prstGeom prst="rect">
            <a:avLst/>
          </a:prstGeom>
          <a:solidFill>
            <a:srgbClr val="1B2440"/>
          </a:solidFill>
          <a:ln/>
        </p:spPr>
      </p:sp>
      <p:sp>
        <p:nvSpPr>
          <p:cNvPr id="5" name="Text 3"/>
          <p:cNvSpPr/>
          <p:nvPr/>
        </p:nvSpPr>
        <p:spPr>
          <a:xfrm>
            <a:off x="666733" y="3308548"/>
            <a:ext cx="6332081" cy="1649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B244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Centralized management of cars, customers, and rentals</a:t>
            </a:r>
            <a:endParaRPr lang="en-US" sz="1400" dirty="0"/>
          </a:p>
          <a:p>
            <a:pPr marL="284480" indent="-284480" algn="l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B244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Less manual data entry and more reliable bookings</a:t>
            </a:r>
            <a:endParaRPr lang="en-US" sz="1400" dirty="0"/>
          </a:p>
          <a:p>
            <a:pPr marL="284480" indent="-284480" algn="l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B244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Historical details preserved by immutable snapshots</a:t>
            </a:r>
            <a:endParaRPr lang="en-US" sz="1400" dirty="0"/>
          </a:p>
          <a:p>
            <a:pPr marL="284480" indent="-284480" algn="l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B244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Faster queries through indexing</a:t>
            </a:r>
            <a:endParaRPr lang="en-US" sz="1400" dirty="0"/>
          </a:p>
          <a:p>
            <a:pPr marL="284480" indent="-284480" algn="l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B244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Automated billing, return inspections, settlement, and maintenance routing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03508" y="3079948"/>
            <a:ext cx="4221454" cy="2106613"/>
          </a:xfrm>
          <a:prstGeom prst="rect">
            <a:avLst/>
          </a:prstGeom>
          <a:solidFill>
            <a:srgbClr val="DFDED7"/>
          </a:solidFill>
          <a:ln/>
        </p:spPr>
      </p:sp>
      <p:sp>
        <p:nvSpPr>
          <p:cNvPr id="7" name="Text 5"/>
          <p:cNvSpPr/>
          <p:nvPr/>
        </p:nvSpPr>
        <p:spPr>
          <a:xfrm>
            <a:off x="7532102" y="3744119"/>
            <a:ext cx="399285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72" dirty="0">
                <a:solidFill>
                  <a:srgbClr val="1B244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EVIDENCE PLACEHOLDER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32102" y="4037088"/>
            <a:ext cx="3764265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44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Placeholder for real screenshots or measured results</a:t>
            </a:r>
            <a:endParaRPr lang="en-US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8E2039-CD3C-7215-F471-487102D1F7A3}"/>
              </a:ext>
            </a:extLst>
          </p:cNvPr>
          <p:cNvSpPr/>
          <p:nvPr/>
        </p:nvSpPr>
        <p:spPr>
          <a:xfrm>
            <a:off x="11014745" y="6467912"/>
            <a:ext cx="1177255" cy="390088"/>
          </a:xfrm>
          <a:prstGeom prst="rect">
            <a:avLst/>
          </a:prstGeom>
          <a:solidFill>
            <a:srgbClr val="E9E8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895</Words>
  <Application>Microsoft Office PowerPoint</Application>
  <PresentationFormat>Widescreen</PresentationFormat>
  <Paragraphs>113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Public Sans Bold</vt:lpstr>
      <vt:lpstr>Consolas</vt:lpstr>
      <vt:lpstr>Public Sans</vt:lpstr>
      <vt:lpstr>Public Sans SemiBold</vt:lpstr>
      <vt:lpstr>Arial</vt:lpstr>
      <vt:lpstr>Schibsted Grotesk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Yogesh Ranwa</cp:lastModifiedBy>
  <cp:revision>3</cp:revision>
  <dcterms:created xsi:type="dcterms:W3CDTF">2026-10-26T17:11:02Z</dcterms:created>
  <dcterms:modified xsi:type="dcterms:W3CDTF">2026-10-26T17:35:38Z</dcterms:modified>
</cp:coreProperties>
</file>